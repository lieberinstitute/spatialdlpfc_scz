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70" r:id="rId3"/>
    <p:sldId id="267" r:id="rId4"/>
    <p:sldId id="268" r:id="rId5"/>
    <p:sldId id="265" r:id="rId6"/>
    <p:sldId id="266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2CD7D-EB12-D14F-96E7-7F6CFF3FAD84}" v="13" dt="2025-06-13T14:22:01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16"/>
    <p:restoredTop sz="94532"/>
  </p:normalViewPr>
  <p:slideViewPr>
    <p:cSldViewPr snapToGrid="0">
      <p:cViewPr varScale="1">
        <p:scale>
          <a:sx n="114" d="100"/>
          <a:sy n="114" d="100"/>
        </p:scale>
        <p:origin x="10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787E7-E438-7247-9ABF-D9EFDC8729AF}" type="datetimeFigureOut">
              <a:rPr lang="en-US" smtClean="0"/>
              <a:t>6/18/25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19D22-CFB9-474F-8388-012EB5240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54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subjects are Non-European, and they are separated from the rest of the European subject group [European &gt; 0.9 Europe ancestry proportion]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19D22-CFB9-474F-8388-012EB52409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56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19D22-CFB9-474F-8388-012EB52409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72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59550-DCA6-2D9E-D04D-680ED65EF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5DA55-6655-FCFD-8E62-20FD29BE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93E2-7010-54B4-2EF3-34F401A77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8F00F-4B9D-5043-BA08-047A5399441D}" type="datetimeFigureOut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323E6-F401-EB2A-9AA9-A1DD38770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F6F33-00C5-2157-FDD7-EC16E6E0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9BE3-3524-B144-94D6-CFF5C0FCC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63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D8D46-7184-B5C8-4118-7F409A25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43FFF-DA11-D97E-A15B-CEF6ED9B6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DBED-48ED-45EB-4097-FE0DB2951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8F00F-4B9D-5043-BA08-047A5399441D}" type="datetimeFigureOut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616E5-9B60-8090-7270-948EECE0E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FBA4D-1519-48B6-E244-4B2D4B63A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9BE3-3524-B144-94D6-CFF5C0FCC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4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AA82B-261D-C1E3-DB23-2F5C4EAF5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57374-A985-631C-CD5C-32C5C14CC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5E7F0-23CC-95EE-7D51-A015127C0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8F00F-4B9D-5043-BA08-047A5399441D}" type="datetimeFigureOut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D36A3-2581-AA37-1684-2D29F2C1C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8F704-75D7-97EC-64A8-18D8D71A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9BE3-3524-B144-94D6-CFF5C0FCC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90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F2DA1-D329-17CC-7259-701B94C3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8E74C-0647-5A78-A732-D457D159A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84A51-8CAF-150D-7E42-5803E7C79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0F294-117D-5C0B-9906-6F57A5A61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8F00F-4B9D-5043-BA08-047A5399441D}" type="datetimeFigureOut">
              <a:rPr lang="en-US" smtClean="0"/>
              <a:t>6/18/25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866E0-356B-2C83-74B6-902338379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740BD-82F1-87C5-F17D-F3F75BA1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9BE3-3524-B144-94D6-CFF5C0FCC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2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D2A5F-3DA5-C9DB-4B41-AF3FDFF8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1E7DF-A065-F089-2793-66F8D6699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C373E-A87A-18E1-E0F7-07AE9DC22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AF391A-1DAA-0F52-DB01-0056F7561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11E5F0-D246-B480-3ADA-481CC6F55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248550-90DF-F6EC-7BD9-08E0F0501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8F00F-4B9D-5043-BA08-047A5399441D}" type="datetimeFigureOut">
              <a:rPr lang="en-US" smtClean="0"/>
              <a:t>6/18/25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CCDCA-1F32-635F-99D0-A1BF63B9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7FA222-ECA4-A50B-AD4C-211BD46B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9BE3-3524-B144-94D6-CFF5C0FCC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5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D14CF-DE1F-D807-84BE-8E28A7743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70BC40-42FF-D471-E5E7-FAB8A5F9A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8F00F-4B9D-5043-BA08-047A5399441D}" type="datetimeFigureOut">
              <a:rPr lang="en-US" smtClean="0"/>
              <a:t>6/18/25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0CBB88-E748-B69B-63D1-0A2702602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D4225-34A8-2A22-5713-472B8146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9BE3-3524-B144-94D6-CFF5C0FCC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F96145-3559-2201-0692-779B60AE7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8F00F-4B9D-5043-BA08-047A5399441D}" type="datetimeFigureOut">
              <a:rPr lang="en-US" smtClean="0"/>
              <a:t>6/18/25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05ADB6-230A-5825-72E8-BC6B0E7B6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B74D0-8959-068E-3EE0-64EBDCDBF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9BE3-3524-B144-94D6-CFF5C0FCC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36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D3D3E-75BB-51B5-2604-13988F243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C2171-5D60-7B10-144E-6AC7A0C13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52AFE-EED0-AC99-51E4-6201F2E45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F68F1-DCAA-F7E0-DA2A-8E3759990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8F00F-4B9D-5043-BA08-047A5399441D}" type="datetimeFigureOut">
              <a:rPr lang="en-US" smtClean="0"/>
              <a:t>6/18/25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11164-3103-9DFB-4DCC-98DE29FD5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DD956-AEFF-493F-8718-3D8BE3C9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9BE3-3524-B144-94D6-CFF5C0FCC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51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13CF8-9434-2612-BFC8-EFDF85EAB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1EF767-582B-3655-E121-127DE9A5C8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6DE2D-E831-B5D2-E7B0-F5CABF469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3C0B9-9943-4251-C88C-1CE58C245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8F00F-4B9D-5043-BA08-047A5399441D}" type="datetimeFigureOut">
              <a:rPr lang="en-US" smtClean="0"/>
              <a:t>6/18/25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FC655-CD77-5849-7F48-C8B0C4EC7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108C3-399D-C3AD-0CEF-DD0CDAE50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9BE3-3524-B144-94D6-CFF5C0FCC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47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9D9A-65F5-8FC2-2A0C-B35713B4D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F9419-F35C-A275-9CB9-92835C57E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4C773-C19E-5CC4-9F91-4509FC29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8F00F-4B9D-5043-BA08-047A5399441D}" type="datetimeFigureOut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5D4E4-FB48-27BC-A20D-837863973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5F0DE-0AB7-19DB-A0DA-999D04CD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9BE3-3524-B144-94D6-CFF5C0FCC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94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1305E4-083B-9858-94FE-9A295A5F85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06E36-BD36-AF83-7855-A3102F921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15687-217E-E06E-F8A7-877F2DEAB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8F00F-4B9D-5043-BA08-047A5399441D}" type="datetimeFigureOut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C1302-2F7E-AC99-F5EE-5D5697650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A1D5F-6026-E3A7-D8FA-3ED34CA33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9BE3-3524-B144-94D6-CFF5C0FCC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2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03933E-BDD7-43F3-8CD6-57DCD569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9E535-BA5B-D3CB-0441-B7329B3FF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BF0E7-6CF9-6BC1-3CD2-6D4E6AEE3A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8F00F-4B9D-5043-BA08-047A5399441D}" type="datetimeFigureOut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2D219-D65D-25A0-E450-F49B2B6D6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653F9-4E76-7FFB-58FE-5389FC0A2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9A9BE3-3524-B144-94D6-CFF5C0FCC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658DC-676D-6C12-A4E1-4932C82171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PRS </a:t>
            </a:r>
            <a:br>
              <a:rPr lang="en-US" dirty="0"/>
            </a:br>
            <a:r>
              <a:rPr lang="en-US" dirty="0" err="1"/>
              <a:t>Spatial_DLPFC</a:t>
            </a:r>
            <a:r>
              <a:rPr lang="en-US" dirty="0"/>
              <a:t> Subjects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6CB95E-A41E-1726-5F20-44B08D601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5606"/>
            <a:ext cx="9144000" cy="531050"/>
          </a:xfrm>
        </p:spPr>
        <p:txBody>
          <a:bodyPr/>
          <a:lstStyle/>
          <a:p>
            <a:r>
              <a:rPr lang="en-US" dirty="0"/>
              <a:t>Daskalakis Lab </a:t>
            </a:r>
          </a:p>
        </p:txBody>
      </p:sp>
    </p:spTree>
    <p:extLst>
      <p:ext uri="{BB962C8B-B14F-4D97-AF65-F5344CB8AC3E}">
        <p14:creationId xmlns:p14="http://schemas.microsoft.com/office/powerpoint/2010/main" val="85781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3FC1D-85E0-7BD5-9735-1BB370AE3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688" y="133477"/>
            <a:ext cx="10515600" cy="1325563"/>
          </a:xfrm>
        </p:spPr>
        <p:txBody>
          <a:bodyPr/>
          <a:lstStyle/>
          <a:p>
            <a:r>
              <a:rPr lang="en-US" dirty="0"/>
              <a:t>PRS score and importance of ancestry </a:t>
            </a:r>
          </a:p>
        </p:txBody>
      </p:sp>
      <p:pic>
        <p:nvPicPr>
          <p:cNvPr id="2050" name="Picture 2" descr="Extended Data Fig. 1">
            <a:extLst>
              <a:ext uri="{FF2B5EF4-FFF2-40B4-BE49-F238E27FC236}">
                <a16:creationId xmlns:a16="http://schemas.microsoft.com/office/drawing/2014/main" id="{8DDF658B-8CA6-DDD9-9F93-4740BA8F1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056" y="2060496"/>
            <a:ext cx="6766560" cy="4432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521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63B4-C3D5-2876-D8AD-0AA29FE2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84" y="169585"/>
            <a:ext cx="11353800" cy="1325563"/>
          </a:xfrm>
        </p:spPr>
        <p:txBody>
          <a:bodyPr/>
          <a:lstStyle/>
          <a:p>
            <a:pPr algn="ctr"/>
            <a:r>
              <a:rPr lang="en-US" dirty="0"/>
              <a:t>Projection of genotype data on Ancestry Markers</a:t>
            </a:r>
          </a:p>
        </p:txBody>
      </p:sp>
      <p:pic>
        <p:nvPicPr>
          <p:cNvPr id="5" name="Content Placeholder 4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B57EBE2E-B1B8-4561-EC4A-DE7594883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64357" y="1570373"/>
            <a:ext cx="3300625" cy="3288193"/>
          </a:xfrm>
        </p:spPr>
      </p:pic>
      <p:pic>
        <p:nvPicPr>
          <p:cNvPr id="7" name="Picture 6" descr="A graph of a number of different colored dots&#10;&#10;AI-generated content may be incorrect.">
            <a:extLst>
              <a:ext uri="{FF2B5EF4-FFF2-40B4-BE49-F238E27FC236}">
                <a16:creationId xmlns:a16="http://schemas.microsoft.com/office/drawing/2014/main" id="{7D829499-C715-BD76-75DF-B58E72C68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073" y="1570373"/>
            <a:ext cx="3300624" cy="3300624"/>
          </a:xfrm>
          <a:prstGeom prst="rect">
            <a:avLst/>
          </a:prstGeom>
        </p:spPr>
      </p:pic>
      <p:pic>
        <p:nvPicPr>
          <p:cNvPr id="4" name="Picture 3" descr="A number of countries/regions with numbers&#10;&#10;AI-generated content may be incorrect.">
            <a:extLst>
              <a:ext uri="{FF2B5EF4-FFF2-40B4-BE49-F238E27FC236}">
                <a16:creationId xmlns:a16="http://schemas.microsoft.com/office/drawing/2014/main" id="{93237F6E-41D6-DD0E-F34D-82B1A97799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752"/>
          <a:stretch>
            <a:fillRect/>
          </a:stretch>
        </p:blipFill>
        <p:spPr>
          <a:xfrm>
            <a:off x="1964357" y="5128295"/>
            <a:ext cx="7492469" cy="897338"/>
          </a:xfrm>
          <a:prstGeom prst="rect">
            <a:avLst/>
          </a:prstGeom>
        </p:spPr>
      </p:pic>
      <p:pic>
        <p:nvPicPr>
          <p:cNvPr id="6" name="Content Placeholder 4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EC45DB80-6EA8-7A61-8C5C-56F41CCEE9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693" t="67133" r="4104" b="12984"/>
          <a:stretch>
            <a:fillRect/>
          </a:stretch>
        </p:blipFill>
        <p:spPr>
          <a:xfrm>
            <a:off x="9288604" y="2865121"/>
            <a:ext cx="1598852" cy="184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5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A421-33DD-60B5-B7D5-929451836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Phenotype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A0F4B-0DD2-7C97-6435-639C0E4EA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42657" cy="4351338"/>
          </a:xfrm>
        </p:spPr>
        <p:txBody>
          <a:bodyPr/>
          <a:lstStyle/>
          <a:p>
            <a:r>
              <a:rPr lang="en-US" dirty="0"/>
              <a:t>Age Range: 23 – 61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a person with histogram&#10;&#10;AI-generated content may be incorrect.">
            <a:extLst>
              <a:ext uri="{FF2B5EF4-FFF2-40B4-BE49-F238E27FC236}">
                <a16:creationId xmlns:a16="http://schemas.microsoft.com/office/drawing/2014/main" id="{379E71A7-F767-DB95-FC08-D29D3EF99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38505"/>
            <a:ext cx="3747524" cy="282683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0CAE8F-7F0B-CF1F-38B3-0CC2FE389FD9}"/>
              </a:ext>
            </a:extLst>
          </p:cNvPr>
          <p:cNvSpPr txBox="1">
            <a:spLocks/>
          </p:cNvSpPr>
          <p:nvPr/>
        </p:nvSpPr>
        <p:spPr>
          <a:xfrm>
            <a:off x="5896428" y="1825625"/>
            <a:ext cx="38426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Gender:</a:t>
            </a:r>
          </a:p>
          <a:p>
            <a:endParaRPr lang="en-US" dirty="0"/>
          </a:p>
        </p:txBody>
      </p:sp>
      <p:pic>
        <p:nvPicPr>
          <p:cNvPr id="7" name="Picture 6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E99BDBA3-6311-8F1C-58AE-2C5B7F5915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189"/>
          <a:stretch>
            <a:fillRect/>
          </a:stretch>
        </p:blipFill>
        <p:spPr>
          <a:xfrm>
            <a:off x="5466735" y="2738505"/>
            <a:ext cx="6367071" cy="23089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E0F030-2414-E494-346C-F7CC13C248AF}"/>
              </a:ext>
            </a:extLst>
          </p:cNvPr>
          <p:cNvSpPr txBox="1"/>
          <p:nvPr/>
        </p:nvSpPr>
        <p:spPr>
          <a:xfrm>
            <a:off x="6794204" y="5535145"/>
            <a:ext cx="2402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Br3942 phenotype not available </a:t>
            </a:r>
          </a:p>
        </p:txBody>
      </p:sp>
    </p:spTree>
    <p:extLst>
      <p:ext uri="{BB962C8B-B14F-4D97-AF65-F5344CB8AC3E}">
        <p14:creationId xmlns:p14="http://schemas.microsoft.com/office/powerpoint/2010/main" val="200249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6D25D-8670-EE46-35C9-7E2217E25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37D-71AB-BAAE-1164-396F82519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SCZ </a:t>
            </a:r>
            <a:r>
              <a:rPr lang="en-US" dirty="0" err="1"/>
              <a:t>PRScs</a:t>
            </a:r>
            <a:r>
              <a:rPr lang="en-US" dirty="0"/>
              <a:t> [masked chr3p21 + chr6p21]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2427D6-2EB8-694E-A79E-13CD0C80FF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077"/>
          <a:stretch>
            <a:fillRect/>
          </a:stretch>
        </p:blipFill>
        <p:spPr>
          <a:xfrm>
            <a:off x="3376414" y="1690688"/>
            <a:ext cx="5439172" cy="4043363"/>
          </a:xfr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08D438D-031D-36D8-50FF-391904748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019525" y="2664326"/>
            <a:ext cx="1529347" cy="152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20EE62-BA1B-122E-ED73-A341C8E6349E}"/>
              </a:ext>
            </a:extLst>
          </p:cNvPr>
          <p:cNvSpPr txBox="1"/>
          <p:nvPr/>
        </p:nvSpPr>
        <p:spPr>
          <a:xfrm>
            <a:off x="9784241" y="4217972"/>
            <a:ext cx="2237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Vijetha </a:t>
            </a:r>
            <a:r>
              <a:rPr lang="en-US" dirty="0" err="1"/>
              <a:t>Balakundi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C364E7-2124-54B1-D923-71EC5930021F}"/>
              </a:ext>
            </a:extLst>
          </p:cNvPr>
          <p:cNvSpPr txBox="1"/>
          <p:nvPr/>
        </p:nvSpPr>
        <p:spPr>
          <a:xfrm>
            <a:off x="3877056" y="5919851"/>
            <a:ext cx="3742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Dx ~ PRS + </a:t>
            </a:r>
            <a:r>
              <a:rPr lang="en-US" dirty="0" err="1"/>
              <a:t>age+sex+geneticPCs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861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178E9-EC4E-23DB-5A21-4C694E27A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PRS Score Table </a:t>
            </a:r>
          </a:p>
        </p:txBody>
      </p:sp>
      <p:pic>
        <p:nvPicPr>
          <p:cNvPr id="5" name="Picture 4" descr="A table of numbers on a white background&#10;&#10;AI-generated content may be incorrect.">
            <a:extLst>
              <a:ext uri="{FF2B5EF4-FFF2-40B4-BE49-F238E27FC236}">
                <a16:creationId xmlns:a16="http://schemas.microsoft.com/office/drawing/2014/main" id="{CD93AC8C-CFEA-879C-B30F-68F1CB368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215" y="1690688"/>
            <a:ext cx="9623569" cy="375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92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D2AFB-0DE8-6BAC-62E0-8DE0D7390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Method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DA666-FEA8-1732-06FF-A2C17596B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Genotype quality control (QC) was conducted on total of 64 subjects. Made use of Global Ancestry pipeline [https://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nievergeltlab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global_ancestry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] to group subjects based on ancestry: 61 of European ancestry (EUR), and 3 classified as Other, based on ancestry proportions—EUR &gt; 0.9. The 3 individuals in the Other category were further labelled as  Admixed European (EUR ancestry between 0.6 and 0.9) [Br2378, Br2039, Br5622]. Additional QC filters applied to EUR genotypes included genotype missingness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geno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 0.01), Hardy-Weinberg equilibrium (p &gt; 1e-6), SNP missingness (mind &lt; 0.01), heterozygosity, and minor allele frequency (MAF &gt; 0.01). One subject with EUR &gt; 0.9 [Br5228] was flagged due to failing the heterozygosity threshold.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3p21 and 6p21 regions were excluded from PRS calculations. Remaining filtered SNPs were used to calculate polygenic risk scores (PRS).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PRScs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software [https://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/getian107/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PRScs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] was used to generate PRS weights: on EUR Schizophrenia GWAS [PGC3_SCZ_wave3.european.autosome.public.v3.vcf ; Reference: Psychiatric Genomics Consortium Wave3 Schizophrenia GWAS Meta-analysis Summary Statistics Release] with default parameters. Plink was used to calculate PRS scores using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PRScs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weights.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PRS scores normalization was performed. First, the mean and standard deviation (SD) of PRS were calculated separately within the EUR group (based only on individuals with EUR &gt; 0.9). These parameters were then used to normalize scores within broader ancestry groups: EUR and Admixed EUR were normalized together using the EUR-based mean and SD.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Regression analysis was conducted using the 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glmnet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package in R, incorporating PRS scores along with covariates such as age, sex, and the first 10 genetic principal components to assess association with disease. The Cragg and Uhler’s pseudo R-squared [ </a:t>
            </a:r>
            <a:r>
              <a:rPr lang="en-US" dirty="0"/>
              <a:t>Nagelkerke R</a:t>
            </a:r>
            <a:r>
              <a:rPr lang="en-US" baseline="30000" dirty="0"/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] was computed using the 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pscl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package.</a:t>
            </a:r>
          </a:p>
        </p:txBody>
      </p:sp>
    </p:spTree>
    <p:extLst>
      <p:ext uri="{BB962C8B-B14F-4D97-AF65-F5344CB8AC3E}">
        <p14:creationId xmlns:p14="http://schemas.microsoft.com/office/powerpoint/2010/main" val="2100998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442</Words>
  <Application>Microsoft Macintosh PowerPoint</Application>
  <PresentationFormat>Widescreen</PresentationFormat>
  <Paragraphs>20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PRS  Spatial_DLPFC Subjects</vt:lpstr>
      <vt:lpstr>PRS score and importance of ancestry </vt:lpstr>
      <vt:lpstr>Projection of genotype data on Ancestry Markers</vt:lpstr>
      <vt:lpstr>Phenotype Details</vt:lpstr>
      <vt:lpstr>SCZ PRScs [masked chr3p21 + chr6p21]</vt:lpstr>
      <vt:lpstr>PRS Score Table </vt:lpstr>
      <vt:lpstr>Method Description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Balakundi, Vijetha</dc:creator>
  <cp:lastModifiedBy>Balakundi, Vijetha</cp:lastModifiedBy>
  <cp:revision>3</cp:revision>
  <dcterms:created xsi:type="dcterms:W3CDTF">2025-06-10T18:32:52Z</dcterms:created>
  <dcterms:modified xsi:type="dcterms:W3CDTF">2025-06-18T20:25:43Z</dcterms:modified>
</cp:coreProperties>
</file>